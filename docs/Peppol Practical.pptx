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2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00"/>
    <p:restoredTop sz="94653"/>
  </p:normalViewPr>
  <p:slideViewPr>
    <p:cSldViewPr>
      <p:cViewPr varScale="1">
        <p:scale>
          <a:sx n="170" d="100"/>
          <a:sy n="170" d="100"/>
        </p:scale>
        <p:origin x="608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A3F1-91AA-4A03-9A50-C623FA2DD738}" type="datetimeFigureOut">
              <a:rPr lang="de-AT" smtClean="0"/>
              <a:pPr/>
              <a:t>28.01.26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C87E0-A457-4697-A0B5-1D5C103ACE6D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A3F1-91AA-4A03-9A50-C623FA2DD738}" type="datetimeFigureOut">
              <a:rPr lang="de-AT" smtClean="0"/>
              <a:pPr/>
              <a:t>28.01.26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C87E0-A457-4697-A0B5-1D5C103ACE6D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A3F1-91AA-4A03-9A50-C623FA2DD738}" type="datetimeFigureOut">
              <a:rPr lang="de-AT" smtClean="0"/>
              <a:pPr/>
              <a:t>28.01.26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C87E0-A457-4697-A0B5-1D5C103ACE6D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A3F1-91AA-4A03-9A50-C623FA2DD738}" type="datetimeFigureOut">
              <a:rPr lang="de-AT" smtClean="0"/>
              <a:pPr/>
              <a:t>28.01.26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C87E0-A457-4697-A0B5-1D5C103ACE6D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A3F1-91AA-4A03-9A50-C623FA2DD738}" type="datetimeFigureOut">
              <a:rPr lang="de-AT" smtClean="0"/>
              <a:pPr/>
              <a:t>28.01.26</a:t>
            </a:fld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C87E0-A457-4697-A0B5-1D5C103ACE6D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A3F1-91AA-4A03-9A50-C623FA2DD738}" type="datetimeFigureOut">
              <a:rPr lang="de-AT" smtClean="0"/>
              <a:pPr/>
              <a:t>28.01.26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C87E0-A457-4697-A0B5-1D5C103ACE6D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A3F1-91AA-4A03-9A50-C623FA2DD738}" type="datetimeFigureOut">
              <a:rPr lang="de-AT" smtClean="0"/>
              <a:pPr/>
              <a:t>28.01.26</a:t>
            </a:fld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C87E0-A457-4697-A0B5-1D5C103ACE6D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A3F1-91AA-4A03-9A50-C623FA2DD738}" type="datetimeFigureOut">
              <a:rPr lang="de-AT" smtClean="0"/>
              <a:pPr/>
              <a:t>28.01.26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C87E0-A457-4697-A0B5-1D5C103ACE6D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A3F1-91AA-4A03-9A50-C623FA2DD738}" type="datetimeFigureOut">
              <a:rPr lang="de-AT" smtClean="0"/>
              <a:pPr/>
              <a:t>28.01.26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C87E0-A457-4697-A0B5-1D5C103ACE6D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A3F1-91AA-4A03-9A50-C623FA2DD738}" type="datetimeFigureOut">
              <a:rPr lang="de-AT" smtClean="0"/>
              <a:pPr/>
              <a:t>28.01.26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C87E0-A457-4697-A0B5-1D5C103ACE6D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A3F1-91AA-4A03-9A50-C623FA2DD738}" type="datetimeFigureOut">
              <a:rPr lang="de-AT" smtClean="0"/>
              <a:pPr/>
              <a:t>28.01.26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C87E0-A457-4697-A0B5-1D5C103ACE6D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9A3F1-91AA-4A03-9A50-C623FA2DD738}" type="datetimeFigureOut">
              <a:rPr lang="de-AT" smtClean="0"/>
              <a:pPr/>
              <a:t>28.01.26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C87E0-A457-4697-A0B5-1D5C103ACE6D}" type="slidenum">
              <a:rPr lang="de-AT" smtClean="0"/>
              <a:pPr/>
              <a:t>‹Nr.›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Peppol </a:t>
            </a:r>
            <a:r>
              <a:rPr lang="de-AT" dirty="0" err="1"/>
              <a:t>Practical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Images </a:t>
            </a:r>
            <a:r>
              <a:rPr lang="de-AT" dirty="0" err="1"/>
              <a:t>and</a:t>
            </a:r>
            <a:r>
              <a:rPr lang="de-AT" dirty="0"/>
              <a:t> Graphics © Philip Helger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Document</a:t>
            </a:r>
            <a:r>
              <a:rPr lang="de-AT" dirty="0"/>
              <a:t> </a:t>
            </a:r>
            <a:r>
              <a:rPr lang="de-AT" dirty="0" err="1"/>
              <a:t>structure</a:t>
            </a:r>
            <a:endParaRPr lang="de-AT" dirty="0"/>
          </a:p>
        </p:txBody>
      </p:sp>
      <p:sp>
        <p:nvSpPr>
          <p:cNvPr id="4" name="Rechteck 3"/>
          <p:cNvSpPr/>
          <p:nvPr/>
        </p:nvSpPr>
        <p:spPr>
          <a:xfrm>
            <a:off x="3935760" y="1556792"/>
            <a:ext cx="3600400" cy="42484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AT" dirty="0"/>
              <a:t>AS2 S/MIME Message</a:t>
            </a:r>
          </a:p>
        </p:txBody>
      </p:sp>
      <p:sp>
        <p:nvSpPr>
          <p:cNvPr id="5" name="Rechteck 4"/>
          <p:cNvSpPr/>
          <p:nvPr/>
        </p:nvSpPr>
        <p:spPr>
          <a:xfrm>
            <a:off x="4295800" y="2204864"/>
            <a:ext cx="2880320" cy="32571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AT" dirty="0"/>
              <a:t>Standard Business </a:t>
            </a:r>
            <a:r>
              <a:rPr lang="de-AT" dirty="0" err="1"/>
              <a:t>Document</a:t>
            </a:r>
            <a:r>
              <a:rPr lang="de-AT" dirty="0"/>
              <a:t> Header</a:t>
            </a:r>
          </a:p>
        </p:txBody>
      </p:sp>
      <p:sp>
        <p:nvSpPr>
          <p:cNvPr id="6" name="Rechteck 5"/>
          <p:cNvSpPr/>
          <p:nvPr/>
        </p:nvSpPr>
        <p:spPr>
          <a:xfrm>
            <a:off x="4727848" y="3068960"/>
            <a:ext cx="2016224" cy="20162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AT" dirty="0"/>
              <a:t>UBL-</a:t>
            </a:r>
            <a:r>
              <a:rPr lang="de-AT" dirty="0" err="1"/>
              <a:t>Document</a:t>
            </a:r>
            <a:endParaRPr lang="de-AT" dirty="0"/>
          </a:p>
        </p:txBody>
      </p:sp>
      <p:sp>
        <p:nvSpPr>
          <p:cNvPr id="7" name="Textfeld 6"/>
          <p:cNvSpPr txBox="1"/>
          <p:nvPr/>
        </p:nvSpPr>
        <p:spPr>
          <a:xfrm>
            <a:off x="4871864" y="3573016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1" dirty="0" err="1"/>
              <a:t>Invoice</a:t>
            </a:r>
            <a:r>
              <a:rPr lang="de-AT" i="1" dirty="0"/>
              <a:t>, Order, </a:t>
            </a:r>
            <a:r>
              <a:rPr lang="de-AT" i="1" dirty="0" err="1"/>
              <a:t>DespatchAdvice</a:t>
            </a:r>
            <a:r>
              <a:rPr lang="de-AT" i="1" dirty="0"/>
              <a:t>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Document</a:t>
            </a:r>
            <a:r>
              <a:rPr lang="de-AT" dirty="0"/>
              <a:t> </a:t>
            </a:r>
            <a:r>
              <a:rPr lang="de-AT" dirty="0" err="1"/>
              <a:t>structure</a:t>
            </a:r>
            <a:endParaRPr lang="de-AT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6F9086C-728F-42B4-92DD-E1AC21A305BE}"/>
              </a:ext>
            </a:extLst>
          </p:cNvPr>
          <p:cNvSpPr/>
          <p:nvPr/>
        </p:nvSpPr>
        <p:spPr>
          <a:xfrm>
            <a:off x="3302018" y="1819342"/>
            <a:ext cx="3600400" cy="4789688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/>
          <a:p>
            <a:pPr algn="ctr">
              <a:defRPr/>
            </a:pPr>
            <a:r>
              <a:rPr lang="de-AT" kern="0" dirty="0">
                <a:solidFill>
                  <a:prstClr val="black"/>
                </a:solidFill>
                <a:latin typeface="Calibri"/>
              </a:rPr>
              <a:t>AS4 MIME Message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86DC8A5-D310-4959-B31E-CDDD991D9236}"/>
              </a:ext>
            </a:extLst>
          </p:cNvPr>
          <p:cNvSpPr/>
          <p:nvPr/>
        </p:nvSpPr>
        <p:spPr>
          <a:xfrm>
            <a:off x="3662058" y="4173628"/>
            <a:ext cx="2880320" cy="2238635"/>
          </a:xfrm>
          <a:prstGeom prst="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/>
          <a:p>
            <a:pPr algn="ctr">
              <a:defRPr/>
            </a:pPr>
            <a:r>
              <a:rPr lang="de-AT" kern="0" dirty="0">
                <a:solidFill>
                  <a:prstClr val="black"/>
                </a:solidFill>
                <a:latin typeface="Calibri"/>
              </a:rPr>
              <a:t>Standard Business </a:t>
            </a:r>
            <a:r>
              <a:rPr lang="de-AT" kern="0" dirty="0" err="1">
                <a:solidFill>
                  <a:prstClr val="black"/>
                </a:solidFill>
                <a:latin typeface="Calibri"/>
              </a:rPr>
              <a:t>Document</a:t>
            </a:r>
            <a:r>
              <a:rPr lang="de-AT" kern="0" dirty="0">
                <a:solidFill>
                  <a:prstClr val="black"/>
                </a:solidFill>
                <a:latin typeface="Calibri"/>
              </a:rPr>
              <a:t> Header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C574F8F-C4A1-4A96-8D68-21A4B8197435}"/>
              </a:ext>
            </a:extLst>
          </p:cNvPr>
          <p:cNvSpPr/>
          <p:nvPr/>
        </p:nvSpPr>
        <p:spPr>
          <a:xfrm>
            <a:off x="3950090" y="4898380"/>
            <a:ext cx="2304256" cy="1297859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/>
          <a:p>
            <a:pPr algn="ctr">
              <a:defRPr/>
            </a:pPr>
            <a:r>
              <a:rPr lang="de-AT" kern="0" dirty="0">
                <a:solidFill>
                  <a:prstClr val="black"/>
                </a:solidFill>
                <a:latin typeface="Calibri"/>
              </a:rPr>
              <a:t>UBL-Dokument</a:t>
            </a:r>
          </a:p>
          <a:p>
            <a:pPr algn="ctr">
              <a:defRPr/>
            </a:pPr>
            <a:endParaRPr lang="de-AT" kern="0" dirty="0">
              <a:solidFill>
                <a:prstClr val="black"/>
              </a:solidFill>
              <a:latin typeface="Calibri"/>
            </a:endParaRPr>
          </a:p>
          <a:p>
            <a:pPr>
              <a:defRPr/>
            </a:pPr>
            <a:r>
              <a:rPr lang="de-AT" i="1" kern="0" dirty="0" err="1">
                <a:solidFill>
                  <a:prstClr val="black"/>
                </a:solidFill>
                <a:latin typeface="Calibri"/>
              </a:rPr>
              <a:t>Invoice</a:t>
            </a:r>
            <a:r>
              <a:rPr lang="de-AT" i="1" kern="0" dirty="0">
                <a:solidFill>
                  <a:prstClr val="black"/>
                </a:solidFill>
                <a:latin typeface="Calibri"/>
              </a:rPr>
              <a:t>, Order, </a:t>
            </a:r>
            <a:r>
              <a:rPr lang="de-AT" i="1" kern="0" dirty="0" err="1">
                <a:solidFill>
                  <a:prstClr val="black"/>
                </a:solidFill>
                <a:latin typeface="Calibri"/>
              </a:rPr>
              <a:t>DespatchAdvice</a:t>
            </a:r>
            <a:r>
              <a:rPr lang="de-AT" i="1" kern="0" dirty="0">
                <a:solidFill>
                  <a:prstClr val="black"/>
                </a:solidFill>
                <a:latin typeface="Calibri"/>
              </a:rPr>
              <a:t> etc.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049C345-4E2A-4D08-AAAF-9360ED584607}"/>
              </a:ext>
            </a:extLst>
          </p:cNvPr>
          <p:cNvSpPr/>
          <p:nvPr/>
        </p:nvSpPr>
        <p:spPr>
          <a:xfrm>
            <a:off x="3661409" y="2246439"/>
            <a:ext cx="2880320" cy="1798534"/>
          </a:xfrm>
          <a:prstGeom prst="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/>
          <a:p>
            <a:pPr algn="ctr">
              <a:defRPr/>
            </a:pPr>
            <a:r>
              <a:rPr lang="de-AT" kern="0" dirty="0">
                <a:solidFill>
                  <a:prstClr val="black"/>
                </a:solidFill>
                <a:latin typeface="Calibri"/>
              </a:rPr>
              <a:t>SOAP Message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9B1ED59-631A-4E9E-BD5C-C2BFC23177FB}"/>
              </a:ext>
            </a:extLst>
          </p:cNvPr>
          <p:cNvSpPr/>
          <p:nvPr/>
        </p:nvSpPr>
        <p:spPr>
          <a:xfrm>
            <a:off x="3950090" y="2616188"/>
            <a:ext cx="2304256" cy="530867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de-AT" kern="0" dirty="0">
                <a:solidFill>
                  <a:prstClr val="black"/>
                </a:solidFill>
                <a:latin typeface="Calibri"/>
              </a:rPr>
              <a:t>WS Security Header</a:t>
            </a:r>
            <a:endParaRPr lang="de-AT" i="1" kern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E506896-ECFB-440E-9F55-9859D152D194}"/>
              </a:ext>
            </a:extLst>
          </p:cNvPr>
          <p:cNvSpPr/>
          <p:nvPr/>
        </p:nvSpPr>
        <p:spPr>
          <a:xfrm>
            <a:off x="3949441" y="3308718"/>
            <a:ext cx="2304256" cy="530867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de-AT" kern="0" dirty="0">
                <a:solidFill>
                  <a:prstClr val="black"/>
                </a:solidFill>
                <a:latin typeface="Calibri"/>
              </a:rPr>
              <a:t>AS4 </a:t>
            </a:r>
            <a:r>
              <a:rPr lang="de-AT" kern="0" dirty="0" err="1">
                <a:solidFill>
                  <a:prstClr val="black"/>
                </a:solidFill>
                <a:latin typeface="Calibri"/>
              </a:rPr>
              <a:t>UserMessage</a:t>
            </a:r>
            <a:endParaRPr lang="de-AT" i="1" kern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5580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3359697" y="2312272"/>
            <a:ext cx="1296145" cy="576064"/>
          </a:xfrm>
          <a:prstGeom prst="rect">
            <a:avLst/>
          </a:prstGeom>
          <a:solidFill>
            <a:srgbClr val="9BBB59"/>
          </a:solidFill>
          <a:ln w="25400" cap="rnd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PEPPOL Pilot Root CA</a:t>
            </a:r>
          </a:p>
        </p:txBody>
      </p:sp>
      <p:sp>
        <p:nvSpPr>
          <p:cNvPr id="6" name="Rechteck 5"/>
          <p:cNvSpPr/>
          <p:nvPr/>
        </p:nvSpPr>
        <p:spPr>
          <a:xfrm>
            <a:off x="4799857" y="3680424"/>
            <a:ext cx="1296145" cy="576064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rnd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>
              <a:srgbClr val="000000">
                <a:alpha val="38000"/>
              </a:srgbClr>
            </a:outerShdw>
          </a:effectLst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Text" lastClr="000000"/>
                </a:solidFill>
                <a:latin typeface="Calibri"/>
              </a:rPr>
              <a:t>PEPPOL Pilot STS CA</a:t>
            </a:r>
          </a:p>
        </p:txBody>
      </p:sp>
      <p:sp>
        <p:nvSpPr>
          <p:cNvPr id="7" name="Rechteck 6"/>
          <p:cNvSpPr/>
          <p:nvPr/>
        </p:nvSpPr>
        <p:spPr>
          <a:xfrm>
            <a:off x="3359697" y="3680424"/>
            <a:ext cx="1296145" cy="576064"/>
          </a:xfrm>
          <a:prstGeom prst="rect">
            <a:avLst/>
          </a:prstGeom>
          <a:solidFill>
            <a:srgbClr val="9BBB59"/>
          </a:solidFill>
          <a:ln w="25400" cap="rnd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PEPPOL Pilot SMP CA</a:t>
            </a:r>
          </a:p>
        </p:txBody>
      </p:sp>
      <p:sp>
        <p:nvSpPr>
          <p:cNvPr id="8" name="Rechteck 7"/>
          <p:cNvSpPr/>
          <p:nvPr/>
        </p:nvSpPr>
        <p:spPr>
          <a:xfrm>
            <a:off x="1919537" y="3680424"/>
            <a:ext cx="1296145" cy="576064"/>
          </a:xfrm>
          <a:prstGeom prst="rect">
            <a:avLst/>
          </a:prstGeom>
          <a:solidFill>
            <a:srgbClr val="9BBB59"/>
          </a:solidFill>
          <a:ln w="25400" cap="rnd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PEPPOL Pilot AP CA</a:t>
            </a:r>
          </a:p>
        </p:txBody>
      </p:sp>
      <p:cxnSp>
        <p:nvCxnSpPr>
          <p:cNvPr id="10" name="Gewinkelte Verbindung 9"/>
          <p:cNvCxnSpPr>
            <a:stCxn id="5" idx="2"/>
            <a:endCxn id="8" idx="0"/>
          </p:cNvCxnSpPr>
          <p:nvPr/>
        </p:nvCxnSpPr>
        <p:spPr>
          <a:xfrm rot="5400000">
            <a:off x="2891645" y="2564300"/>
            <a:ext cx="792088" cy="1440160"/>
          </a:xfrm>
          <a:prstGeom prst="bentConnector3">
            <a:avLst>
              <a:gd name="adj1" fmla="val 50000"/>
            </a:avLst>
          </a:prstGeom>
          <a:noFill/>
          <a:ln w="9525" cap="rnd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1" name="Gewinkelte Verbindung 10"/>
          <p:cNvCxnSpPr>
            <a:stCxn id="5" idx="2"/>
            <a:endCxn id="6" idx="0"/>
          </p:cNvCxnSpPr>
          <p:nvPr/>
        </p:nvCxnSpPr>
        <p:spPr>
          <a:xfrm rot="16200000" flipH="1">
            <a:off x="4331805" y="2564300"/>
            <a:ext cx="792088" cy="1440160"/>
          </a:xfrm>
          <a:prstGeom prst="bentConnector3">
            <a:avLst>
              <a:gd name="adj1" fmla="val 50000"/>
            </a:avLst>
          </a:prstGeom>
          <a:noFill/>
          <a:ln w="9525" cap="rnd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2" name="Gerade Verbindung mit Pfeil 11"/>
          <p:cNvCxnSpPr>
            <a:stCxn id="5" idx="2"/>
            <a:endCxn id="7" idx="0"/>
          </p:cNvCxnSpPr>
          <p:nvPr/>
        </p:nvCxnSpPr>
        <p:spPr>
          <a:xfrm>
            <a:off x="4007769" y="2888336"/>
            <a:ext cx="0" cy="792088"/>
          </a:xfrm>
          <a:prstGeom prst="straightConnector1">
            <a:avLst/>
          </a:prstGeom>
          <a:noFill/>
          <a:ln w="9525" cap="rnd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13" name="Rechteck 12"/>
          <p:cNvSpPr/>
          <p:nvPr/>
        </p:nvSpPr>
        <p:spPr>
          <a:xfrm>
            <a:off x="1919537" y="4653136"/>
            <a:ext cx="1296145" cy="57606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AP Pilot Cert</a:t>
            </a:r>
          </a:p>
        </p:txBody>
      </p:sp>
      <p:sp>
        <p:nvSpPr>
          <p:cNvPr id="14" name="Rechteck 13"/>
          <p:cNvSpPr/>
          <p:nvPr/>
        </p:nvSpPr>
        <p:spPr>
          <a:xfrm>
            <a:off x="3359697" y="4653136"/>
            <a:ext cx="1296145" cy="57606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SMP Pilot Cert</a:t>
            </a:r>
          </a:p>
        </p:txBody>
      </p:sp>
      <p:cxnSp>
        <p:nvCxnSpPr>
          <p:cNvPr id="19" name="Gerade Verbindung mit Pfeil 18"/>
          <p:cNvCxnSpPr>
            <a:stCxn id="8" idx="2"/>
            <a:endCxn id="13" idx="0"/>
          </p:cNvCxnSpPr>
          <p:nvPr/>
        </p:nvCxnSpPr>
        <p:spPr>
          <a:xfrm>
            <a:off x="2567609" y="4256488"/>
            <a:ext cx="0" cy="3966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>
            <a:stCxn id="7" idx="2"/>
            <a:endCxn id="14" idx="0"/>
          </p:cNvCxnSpPr>
          <p:nvPr/>
        </p:nvCxnSpPr>
        <p:spPr>
          <a:xfrm>
            <a:off x="4007769" y="4256488"/>
            <a:ext cx="0" cy="3966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eck 32"/>
          <p:cNvSpPr/>
          <p:nvPr/>
        </p:nvSpPr>
        <p:spPr>
          <a:xfrm>
            <a:off x="7680178" y="2302101"/>
            <a:ext cx="1296145" cy="576064"/>
          </a:xfrm>
          <a:prstGeom prst="rect">
            <a:avLst/>
          </a:prstGeom>
          <a:solidFill>
            <a:srgbClr val="9BBB59"/>
          </a:solidFill>
          <a:ln w="25400" cap="rnd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PEPPOL </a:t>
            </a:r>
            <a:r>
              <a:rPr lang="de-AT" sz="1600" kern="0" dirty="0" err="1">
                <a:solidFill>
                  <a:sysClr val="window" lastClr="FFFFFF"/>
                </a:solidFill>
                <a:latin typeface="Calibri"/>
              </a:rPr>
              <a:t>Prod</a:t>
            </a: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 Root CA</a:t>
            </a:r>
          </a:p>
        </p:txBody>
      </p:sp>
      <p:sp>
        <p:nvSpPr>
          <p:cNvPr id="34" name="Rechteck 33"/>
          <p:cNvSpPr/>
          <p:nvPr/>
        </p:nvSpPr>
        <p:spPr>
          <a:xfrm>
            <a:off x="9120337" y="3670253"/>
            <a:ext cx="1296145" cy="576064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rnd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>
              <a:srgbClr val="000000">
                <a:alpha val="38000"/>
              </a:srgbClr>
            </a:outerShdw>
          </a:effectLst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Text" lastClr="000000"/>
                </a:solidFill>
                <a:latin typeface="Calibri"/>
              </a:rPr>
              <a:t>PEPPOL </a:t>
            </a:r>
            <a:r>
              <a:rPr lang="de-AT" sz="1600" kern="0" dirty="0" err="1">
                <a:solidFill>
                  <a:sysClr val="windowText" lastClr="000000"/>
                </a:solidFill>
                <a:latin typeface="Calibri"/>
              </a:rPr>
              <a:t>Prod</a:t>
            </a:r>
            <a:r>
              <a:rPr lang="de-AT" sz="1600" kern="0" dirty="0">
                <a:solidFill>
                  <a:sysClr val="windowText" lastClr="000000"/>
                </a:solidFill>
                <a:latin typeface="Calibri"/>
              </a:rPr>
              <a:t> STS CA</a:t>
            </a:r>
          </a:p>
        </p:txBody>
      </p:sp>
      <p:sp>
        <p:nvSpPr>
          <p:cNvPr id="35" name="Rechteck 34"/>
          <p:cNvSpPr/>
          <p:nvPr/>
        </p:nvSpPr>
        <p:spPr>
          <a:xfrm>
            <a:off x="7680178" y="3670253"/>
            <a:ext cx="1296145" cy="576064"/>
          </a:xfrm>
          <a:prstGeom prst="rect">
            <a:avLst/>
          </a:prstGeom>
          <a:solidFill>
            <a:srgbClr val="9BBB59"/>
          </a:solidFill>
          <a:ln w="25400" cap="rnd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PEPPOL </a:t>
            </a:r>
            <a:r>
              <a:rPr lang="de-AT" sz="1600" kern="0" dirty="0" err="1">
                <a:solidFill>
                  <a:sysClr val="window" lastClr="FFFFFF"/>
                </a:solidFill>
                <a:latin typeface="Calibri"/>
              </a:rPr>
              <a:t>Prod</a:t>
            </a: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 SMP CA</a:t>
            </a:r>
          </a:p>
        </p:txBody>
      </p:sp>
      <p:sp>
        <p:nvSpPr>
          <p:cNvPr id="36" name="Rechteck 35"/>
          <p:cNvSpPr/>
          <p:nvPr/>
        </p:nvSpPr>
        <p:spPr>
          <a:xfrm>
            <a:off x="6240018" y="3670253"/>
            <a:ext cx="1296145" cy="576064"/>
          </a:xfrm>
          <a:prstGeom prst="rect">
            <a:avLst/>
          </a:prstGeom>
          <a:solidFill>
            <a:srgbClr val="9BBB59"/>
          </a:solidFill>
          <a:ln w="25400" cap="rnd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PEPPOL </a:t>
            </a:r>
            <a:r>
              <a:rPr lang="de-AT" sz="1600" kern="0" dirty="0" err="1">
                <a:solidFill>
                  <a:sysClr val="window" lastClr="FFFFFF"/>
                </a:solidFill>
                <a:latin typeface="Calibri"/>
              </a:rPr>
              <a:t>Prod</a:t>
            </a: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 AP CA</a:t>
            </a:r>
          </a:p>
        </p:txBody>
      </p:sp>
      <p:cxnSp>
        <p:nvCxnSpPr>
          <p:cNvPr id="37" name="Gewinkelte Verbindung 36"/>
          <p:cNvCxnSpPr>
            <a:stCxn id="33" idx="2"/>
            <a:endCxn id="36" idx="0"/>
          </p:cNvCxnSpPr>
          <p:nvPr/>
        </p:nvCxnSpPr>
        <p:spPr>
          <a:xfrm rot="5400000">
            <a:off x="7212126" y="2554129"/>
            <a:ext cx="792088" cy="1440160"/>
          </a:xfrm>
          <a:prstGeom prst="bentConnector3">
            <a:avLst>
              <a:gd name="adj1" fmla="val 50000"/>
            </a:avLst>
          </a:prstGeom>
          <a:noFill/>
          <a:ln w="9525" cap="rnd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38" name="Gewinkelte Verbindung 37"/>
          <p:cNvCxnSpPr>
            <a:stCxn id="33" idx="2"/>
            <a:endCxn id="34" idx="0"/>
          </p:cNvCxnSpPr>
          <p:nvPr/>
        </p:nvCxnSpPr>
        <p:spPr>
          <a:xfrm rot="16200000" flipH="1">
            <a:off x="8652285" y="2554130"/>
            <a:ext cx="792088" cy="1440159"/>
          </a:xfrm>
          <a:prstGeom prst="bentConnector3">
            <a:avLst>
              <a:gd name="adj1" fmla="val 50000"/>
            </a:avLst>
          </a:prstGeom>
          <a:noFill/>
          <a:ln w="9525" cap="rnd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39" name="Gerade Verbindung mit Pfeil 38"/>
          <p:cNvCxnSpPr>
            <a:stCxn id="33" idx="2"/>
            <a:endCxn id="35" idx="0"/>
          </p:cNvCxnSpPr>
          <p:nvPr/>
        </p:nvCxnSpPr>
        <p:spPr>
          <a:xfrm>
            <a:off x="8328250" y="2878165"/>
            <a:ext cx="0" cy="792088"/>
          </a:xfrm>
          <a:prstGeom prst="straightConnector1">
            <a:avLst/>
          </a:prstGeom>
          <a:noFill/>
          <a:ln w="9525" cap="rnd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40" name="Rechteck 39"/>
          <p:cNvSpPr/>
          <p:nvPr/>
        </p:nvSpPr>
        <p:spPr>
          <a:xfrm>
            <a:off x="6240018" y="4642965"/>
            <a:ext cx="1296145" cy="57606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AP </a:t>
            </a:r>
            <a:r>
              <a:rPr lang="de-AT" sz="1600" kern="0" dirty="0" err="1">
                <a:solidFill>
                  <a:sysClr val="window" lastClr="FFFFFF"/>
                </a:solidFill>
                <a:latin typeface="Calibri"/>
              </a:rPr>
              <a:t>Prod</a:t>
            </a: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 Cert</a:t>
            </a:r>
          </a:p>
        </p:txBody>
      </p:sp>
      <p:sp>
        <p:nvSpPr>
          <p:cNvPr id="41" name="Rechteck 40"/>
          <p:cNvSpPr/>
          <p:nvPr/>
        </p:nvSpPr>
        <p:spPr>
          <a:xfrm>
            <a:off x="7680178" y="4642965"/>
            <a:ext cx="1296145" cy="57606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SMP </a:t>
            </a:r>
            <a:r>
              <a:rPr lang="de-AT" sz="1600" kern="0" dirty="0" err="1">
                <a:solidFill>
                  <a:sysClr val="window" lastClr="FFFFFF"/>
                </a:solidFill>
                <a:latin typeface="Calibri"/>
              </a:rPr>
              <a:t>Prod</a:t>
            </a: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 Cert</a:t>
            </a:r>
          </a:p>
        </p:txBody>
      </p:sp>
      <p:cxnSp>
        <p:nvCxnSpPr>
          <p:cNvPr id="42" name="Gerade Verbindung mit Pfeil 41"/>
          <p:cNvCxnSpPr>
            <a:stCxn id="36" idx="2"/>
            <a:endCxn id="40" idx="0"/>
          </p:cNvCxnSpPr>
          <p:nvPr/>
        </p:nvCxnSpPr>
        <p:spPr>
          <a:xfrm>
            <a:off x="6888090" y="4246317"/>
            <a:ext cx="0" cy="3966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35" idx="2"/>
            <a:endCxn id="41" idx="0"/>
          </p:cNvCxnSpPr>
          <p:nvPr/>
        </p:nvCxnSpPr>
        <p:spPr>
          <a:xfrm>
            <a:off x="8328250" y="4246317"/>
            <a:ext cx="0" cy="3966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el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OpenPEPPOL PKI v2</a:t>
            </a:r>
          </a:p>
        </p:txBody>
      </p:sp>
    </p:spTree>
    <p:extLst>
      <p:ext uri="{BB962C8B-B14F-4D97-AF65-F5344CB8AC3E}">
        <p14:creationId xmlns:p14="http://schemas.microsoft.com/office/powerpoint/2010/main" val="2109585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3791744" y="2312272"/>
            <a:ext cx="1296145" cy="576064"/>
          </a:xfrm>
          <a:prstGeom prst="rect">
            <a:avLst/>
          </a:prstGeom>
          <a:solidFill>
            <a:srgbClr val="9BBB59"/>
          </a:solidFill>
          <a:ln w="25400" cap="rnd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PEPPOL Pilot Root CA</a:t>
            </a:r>
          </a:p>
        </p:txBody>
      </p:sp>
      <p:sp>
        <p:nvSpPr>
          <p:cNvPr id="7" name="Rechteck 6"/>
          <p:cNvSpPr/>
          <p:nvPr/>
        </p:nvSpPr>
        <p:spPr>
          <a:xfrm>
            <a:off x="4511825" y="3680424"/>
            <a:ext cx="1296145" cy="576064"/>
          </a:xfrm>
          <a:prstGeom prst="rect">
            <a:avLst/>
          </a:prstGeom>
          <a:solidFill>
            <a:srgbClr val="9BBB59"/>
          </a:solidFill>
          <a:ln w="25400" cap="rnd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PEPPOL Pilot SMP CA</a:t>
            </a:r>
          </a:p>
        </p:txBody>
      </p:sp>
      <p:sp>
        <p:nvSpPr>
          <p:cNvPr id="8" name="Rechteck 7"/>
          <p:cNvSpPr/>
          <p:nvPr/>
        </p:nvSpPr>
        <p:spPr>
          <a:xfrm>
            <a:off x="3071665" y="3680424"/>
            <a:ext cx="1296145" cy="576064"/>
          </a:xfrm>
          <a:prstGeom prst="rect">
            <a:avLst/>
          </a:prstGeom>
          <a:solidFill>
            <a:srgbClr val="9BBB59"/>
          </a:solidFill>
          <a:ln w="25400" cap="rnd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PEPPOL Pilot AP CA</a:t>
            </a:r>
          </a:p>
        </p:txBody>
      </p:sp>
      <p:cxnSp>
        <p:nvCxnSpPr>
          <p:cNvPr id="10" name="Gewinkelte Verbindung 9"/>
          <p:cNvCxnSpPr>
            <a:stCxn id="5" idx="2"/>
            <a:endCxn id="8" idx="0"/>
          </p:cNvCxnSpPr>
          <p:nvPr/>
        </p:nvCxnSpPr>
        <p:spPr>
          <a:xfrm rot="5400000">
            <a:off x="3683733" y="2924342"/>
            <a:ext cx="792088" cy="720079"/>
          </a:xfrm>
          <a:prstGeom prst="bentConnector3">
            <a:avLst>
              <a:gd name="adj1" fmla="val 50000"/>
            </a:avLst>
          </a:prstGeom>
          <a:noFill/>
          <a:ln w="9525" cap="rnd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2" name="Gerade Verbindung mit Pfeil 11"/>
          <p:cNvCxnSpPr>
            <a:stCxn id="5" idx="2"/>
            <a:endCxn id="7" idx="0"/>
          </p:cNvCxnSpPr>
          <p:nvPr/>
        </p:nvCxnSpPr>
        <p:spPr>
          <a:xfrm rot="16200000" flipH="1">
            <a:off x="4403812" y="2924340"/>
            <a:ext cx="792088" cy="720081"/>
          </a:xfrm>
          <a:prstGeom prst="bentConnector3">
            <a:avLst>
              <a:gd name="adj1" fmla="val 50000"/>
            </a:avLst>
          </a:prstGeom>
          <a:noFill/>
          <a:ln w="9525" cap="rnd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13" name="Rechteck 12"/>
          <p:cNvSpPr/>
          <p:nvPr/>
        </p:nvSpPr>
        <p:spPr>
          <a:xfrm>
            <a:off x="3071665" y="4653136"/>
            <a:ext cx="1296145" cy="57606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AP Pilot Cert</a:t>
            </a:r>
          </a:p>
        </p:txBody>
      </p:sp>
      <p:sp>
        <p:nvSpPr>
          <p:cNvPr id="14" name="Rechteck 13"/>
          <p:cNvSpPr/>
          <p:nvPr/>
        </p:nvSpPr>
        <p:spPr>
          <a:xfrm>
            <a:off x="4511825" y="4653136"/>
            <a:ext cx="1296145" cy="57606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SMP Pilot Cert</a:t>
            </a:r>
          </a:p>
        </p:txBody>
      </p:sp>
      <p:cxnSp>
        <p:nvCxnSpPr>
          <p:cNvPr id="19" name="Gerade Verbindung mit Pfeil 18"/>
          <p:cNvCxnSpPr>
            <a:stCxn id="8" idx="2"/>
            <a:endCxn id="13" idx="0"/>
          </p:cNvCxnSpPr>
          <p:nvPr/>
        </p:nvCxnSpPr>
        <p:spPr>
          <a:xfrm>
            <a:off x="3719737" y="4256488"/>
            <a:ext cx="0" cy="3966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>
            <a:stCxn id="7" idx="2"/>
            <a:endCxn id="14" idx="0"/>
          </p:cNvCxnSpPr>
          <p:nvPr/>
        </p:nvCxnSpPr>
        <p:spPr>
          <a:xfrm>
            <a:off x="5159897" y="4256488"/>
            <a:ext cx="0" cy="3966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eck 32"/>
          <p:cNvSpPr/>
          <p:nvPr/>
        </p:nvSpPr>
        <p:spPr>
          <a:xfrm>
            <a:off x="6960096" y="2302101"/>
            <a:ext cx="1296145" cy="576064"/>
          </a:xfrm>
          <a:prstGeom prst="rect">
            <a:avLst/>
          </a:prstGeom>
          <a:solidFill>
            <a:srgbClr val="9BBB59"/>
          </a:solidFill>
          <a:ln w="25400" cap="rnd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PEPPOL </a:t>
            </a:r>
            <a:r>
              <a:rPr lang="de-AT" sz="1600" kern="0" dirty="0" err="1">
                <a:solidFill>
                  <a:sysClr val="window" lastClr="FFFFFF"/>
                </a:solidFill>
                <a:latin typeface="Calibri"/>
              </a:rPr>
              <a:t>Prod</a:t>
            </a: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 Root CA</a:t>
            </a:r>
          </a:p>
        </p:txBody>
      </p:sp>
      <p:sp>
        <p:nvSpPr>
          <p:cNvPr id="35" name="Rechteck 34"/>
          <p:cNvSpPr/>
          <p:nvPr/>
        </p:nvSpPr>
        <p:spPr>
          <a:xfrm>
            <a:off x="7680178" y="3670253"/>
            <a:ext cx="1296145" cy="576064"/>
          </a:xfrm>
          <a:prstGeom prst="rect">
            <a:avLst/>
          </a:prstGeom>
          <a:solidFill>
            <a:srgbClr val="9BBB59"/>
          </a:solidFill>
          <a:ln w="25400" cap="rnd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PEPPOL </a:t>
            </a:r>
            <a:r>
              <a:rPr lang="de-AT" sz="1600" kern="0" dirty="0" err="1">
                <a:solidFill>
                  <a:sysClr val="window" lastClr="FFFFFF"/>
                </a:solidFill>
                <a:latin typeface="Calibri"/>
              </a:rPr>
              <a:t>Prod</a:t>
            </a: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 SMP CA</a:t>
            </a:r>
          </a:p>
        </p:txBody>
      </p:sp>
      <p:sp>
        <p:nvSpPr>
          <p:cNvPr id="36" name="Rechteck 35"/>
          <p:cNvSpPr/>
          <p:nvPr/>
        </p:nvSpPr>
        <p:spPr>
          <a:xfrm>
            <a:off x="6240018" y="3670253"/>
            <a:ext cx="1296145" cy="576064"/>
          </a:xfrm>
          <a:prstGeom prst="rect">
            <a:avLst/>
          </a:prstGeom>
          <a:solidFill>
            <a:srgbClr val="9BBB59"/>
          </a:solidFill>
          <a:ln w="25400" cap="rnd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PEPPOL </a:t>
            </a:r>
            <a:r>
              <a:rPr lang="de-AT" sz="1600" kern="0" dirty="0" err="1">
                <a:solidFill>
                  <a:sysClr val="window" lastClr="FFFFFF"/>
                </a:solidFill>
                <a:latin typeface="Calibri"/>
              </a:rPr>
              <a:t>Prod</a:t>
            </a: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 AP CA</a:t>
            </a:r>
          </a:p>
        </p:txBody>
      </p:sp>
      <p:cxnSp>
        <p:nvCxnSpPr>
          <p:cNvPr id="37" name="Gewinkelte Verbindung 36"/>
          <p:cNvCxnSpPr>
            <a:stCxn id="33" idx="2"/>
            <a:endCxn id="36" idx="0"/>
          </p:cNvCxnSpPr>
          <p:nvPr/>
        </p:nvCxnSpPr>
        <p:spPr>
          <a:xfrm rot="5400000">
            <a:off x="6852085" y="2914170"/>
            <a:ext cx="792088" cy="720078"/>
          </a:xfrm>
          <a:prstGeom prst="bentConnector3">
            <a:avLst>
              <a:gd name="adj1" fmla="val 50000"/>
            </a:avLst>
          </a:prstGeom>
          <a:noFill/>
          <a:ln w="9525" cap="rnd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39" name="Gerade Verbindung mit Pfeil 38"/>
          <p:cNvCxnSpPr>
            <a:stCxn id="33" idx="2"/>
            <a:endCxn id="35" idx="0"/>
          </p:cNvCxnSpPr>
          <p:nvPr/>
        </p:nvCxnSpPr>
        <p:spPr>
          <a:xfrm rot="16200000" flipH="1">
            <a:off x="7572165" y="2914168"/>
            <a:ext cx="792088" cy="720082"/>
          </a:xfrm>
          <a:prstGeom prst="bentConnector3">
            <a:avLst>
              <a:gd name="adj1" fmla="val 50000"/>
            </a:avLst>
          </a:prstGeom>
          <a:noFill/>
          <a:ln w="9525" cap="rnd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40" name="Rechteck 39"/>
          <p:cNvSpPr/>
          <p:nvPr/>
        </p:nvSpPr>
        <p:spPr>
          <a:xfrm>
            <a:off x="6240018" y="4642965"/>
            <a:ext cx="1296145" cy="57606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AP </a:t>
            </a:r>
            <a:r>
              <a:rPr lang="de-AT" sz="1600" kern="0" dirty="0" err="1">
                <a:solidFill>
                  <a:sysClr val="window" lastClr="FFFFFF"/>
                </a:solidFill>
                <a:latin typeface="Calibri"/>
              </a:rPr>
              <a:t>Prod</a:t>
            </a: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 Cert</a:t>
            </a:r>
          </a:p>
        </p:txBody>
      </p:sp>
      <p:sp>
        <p:nvSpPr>
          <p:cNvPr id="41" name="Rechteck 40"/>
          <p:cNvSpPr/>
          <p:nvPr/>
        </p:nvSpPr>
        <p:spPr>
          <a:xfrm>
            <a:off x="7680178" y="4642965"/>
            <a:ext cx="1296145" cy="57606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09">
              <a:defRPr/>
            </a:pP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SMP </a:t>
            </a:r>
            <a:r>
              <a:rPr lang="de-AT" sz="1600" kern="0" dirty="0" err="1">
                <a:solidFill>
                  <a:sysClr val="window" lastClr="FFFFFF"/>
                </a:solidFill>
                <a:latin typeface="Calibri"/>
              </a:rPr>
              <a:t>Prod</a:t>
            </a:r>
            <a:r>
              <a:rPr lang="de-AT" sz="1600" kern="0" dirty="0">
                <a:solidFill>
                  <a:sysClr val="window" lastClr="FFFFFF"/>
                </a:solidFill>
                <a:latin typeface="Calibri"/>
              </a:rPr>
              <a:t> Cert</a:t>
            </a:r>
          </a:p>
        </p:txBody>
      </p:sp>
      <p:cxnSp>
        <p:nvCxnSpPr>
          <p:cNvPr id="42" name="Gerade Verbindung mit Pfeil 41"/>
          <p:cNvCxnSpPr>
            <a:stCxn id="36" idx="2"/>
            <a:endCxn id="40" idx="0"/>
          </p:cNvCxnSpPr>
          <p:nvPr/>
        </p:nvCxnSpPr>
        <p:spPr>
          <a:xfrm>
            <a:off x="6888090" y="4246317"/>
            <a:ext cx="0" cy="3966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35" idx="2"/>
            <a:endCxn id="41" idx="0"/>
          </p:cNvCxnSpPr>
          <p:nvPr/>
        </p:nvCxnSpPr>
        <p:spPr>
          <a:xfrm>
            <a:off x="8328250" y="4246317"/>
            <a:ext cx="0" cy="3966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el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OpenPEPPOL PKI v3</a:t>
            </a:r>
          </a:p>
        </p:txBody>
      </p:sp>
    </p:spTree>
    <p:extLst>
      <p:ext uri="{BB962C8B-B14F-4D97-AF65-F5344CB8AC3E}">
        <p14:creationId xmlns:p14="http://schemas.microsoft.com/office/powerpoint/2010/main" val="2109585359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Macintosh PowerPoint</Application>
  <PresentationFormat>Breitbild</PresentationFormat>
  <Paragraphs>40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Calibri</vt:lpstr>
      <vt:lpstr>Larissa-Design</vt:lpstr>
      <vt:lpstr>Peppol Practical</vt:lpstr>
      <vt:lpstr>Document structure</vt:lpstr>
      <vt:lpstr>Document structure</vt:lpstr>
      <vt:lpstr>OpenPEPPOL PKI v2</vt:lpstr>
      <vt:lpstr>OpenPEPPOL PKI v3</vt:lpstr>
    </vt:vector>
  </TitlesOfParts>
  <Company>phloc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PEPPOL practical</dc:title>
  <dc:creator>Philip Helger</dc:creator>
  <cp:lastModifiedBy>Philip Helger</cp:lastModifiedBy>
  <cp:revision>13</cp:revision>
  <dcterms:created xsi:type="dcterms:W3CDTF">2014-11-08T11:07:13Z</dcterms:created>
  <dcterms:modified xsi:type="dcterms:W3CDTF">2026-01-28T12:12:34Z</dcterms:modified>
</cp:coreProperties>
</file>